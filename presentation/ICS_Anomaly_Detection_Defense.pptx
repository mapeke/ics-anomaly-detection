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58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0:00–0:40 — Greet the committee, read the topic, introduce the three of us and our advisor. Danial leads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0:40–1:30 — Who did what. Each role maps to one of the three contributions: detection benchmark, cross-dataset transfer,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1:30–2:40 — Set the stakes: ICS attacks have physical consequences. The premise of the field: teach a model 'normal', flag 'abnormal'.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2:40–3:50 — The argument in one box, then the six concrete objectives straight from the assignment. This frames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3:50–4:40 — Two factories that don't speak the same language: 79 power-plant sensors vs 16 gas-pipeline Modbus features, zero shared sensors. This is what makes cross-dataset transfer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4:40–5:30 — The lineup spans 20+ years. The whole point of the shared interface is that swapping any of these is a one-line config change — apples-to-apples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5:30–6:30 — The metric is not neutral. Point-adjust over-credits a single lucky hit; eTaPR grades on coverage and speed. We report all three because the ranking changes between them — and that change is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6:30–7:30 — Trace one number end to end. The discipline — config hash, seeds, tests, notebooks-only-plot — is what lets a reviewer trust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7:30–8:20 — The core methodological move. We don't match 'sensor 47' to 'sensor 11'; we match 'pressure behaviour' to 'pressure behaviour'.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8:20–9:00 — The stack, and the one rule that makes it a research artifact: every number reproducible from a committed config. Quick — keep moving 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9:00–10:00 — Two code excerpts that ARE the argument: the shared interface (left) and the assertion that crashes on data leakage (right). Plus the demo app that turns a trained model into something you can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10:00–10:55 — Baseline detection. Note nobody hits the 0.95 the literature advertises once leakage is closed. Morris's high F1 is a base-rate artifact — foreshadows the transfer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10:55–11:40 — Contribution 2 in one chart: who 'wins' depends on the metric. Point-adjust flatters the weak classical models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11:40–12:55 — The core novelty. Left: naive transfer is a coin flip dressed up as 0.95. Recalibrate on target normal and a real modern-vs-classical gap appears. Right: LOPO shows blindness is localized to the removed subsystem.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12:55–13:50 — Contribution 3. The best detector is often the worst localizer. The fancy attention explanation adds nothing over plain reconstruction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13:50–14:30 — Tie the three findings to three concrete, actionable rules. This is the 'so what' for a practitioner or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14:30–14:55 — Restate what we did and the single message: report the grid, not the headline. Mention the apparatus outlives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14:55–15:00 — Thank the committee.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FE4E0"/>
                </a:solidFill>
                <a:latin typeface="Calibri"/>
              </a:rPr>
              <a:t>International Information Technology University · Faculty of Computer Technology and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ICS Anomaly Detection
for Cyber-Physical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29A8E"/>
                </a:solidFill>
                <a:latin typeface="Calibri"/>
              </a:rPr>
              <a:t>Diploma Project  ·  Educational Program 6B06303 — Network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Team lead:  Zainiddin Danial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Imankozhayeva Laura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Bekisheva Galiya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Research advisor:  Nurlybayev T.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BFE4E0"/>
                </a:solidFill>
                <a:latin typeface="Calibri"/>
              </a:rPr>
              <a:t>Almaty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Team composition &amp; roles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Three students, three contributions of the thesis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7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Zainiddin Danial
(team lead)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ML Engineering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Unified AnomalyDetector interface; the six detectors; experiment infrastructure &amp; reproducibility (YAML configs, config hash)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Imankozhayeva Laura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Data &amp; Evaluation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Data loaders &amp; preprocessing (scaler-leak guard); three time-aware metrics; cross-testbed transfer + within-HAI LOPO study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Bekisheva Galiya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Attribution &amp; Delivery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Per-sensor attribution + SHAP; FastAPI demo web app; thesis writing and figures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Nurlybayev T. A.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Research advisor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Scope, methodology review, defense readiness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Why this matters: attacks on physical plants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Industrial Control Systems run water, power, gas, chemicals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194560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Sensors
(pressure, flow,
valve, motor)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691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417320"/>
            <a:ext cx="2194560" cy="96012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ICS / PLC
control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91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2194560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Actuators
(pumps, valves,
breakers)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589520" cy="502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0F2A4A"/>
                </a:solidFill>
                <a:latin typeface="Calibri"/>
              </a:rPr>
              <a:t>Anomaly detection lives in the monitoring layer:  learn what "normal" looks like → alarm on "not normal"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Stuxnet (2010) — malware physically destroyed centrifuges while screens showed normal readings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Ukraine power grid (2015) — attackers tripped breakers, ~225,000 customers blacked out in winter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Maroochy Shire (2000) — stolen radio opened sewage valves, ~1 million litres spilled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In every case the attack was visible in the sensor data — if someone watched the right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Task statement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What the diploma sets out to prove and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solidFill>
            <a:srgbClr val="F2F5F8"/>
          </a:solidFill>
          <a:ln w="1905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tlCol="0" anchor="ctr"/>
          <a:lstStyle/>
          <a:p>
            <a:pPr algn="ctr"/>
            <a:r>
              <a:rPr sz="1500" b="1" i="0">
                <a:solidFill>
                  <a:srgbClr val="129A8E"/>
                </a:solidFill>
                <a:latin typeface="Calibri"/>
              </a:rPr>
              <a:t>Thesis: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ICS detectors report high F1 on their training dataset, but (a) their rankings change under time-aware metrics and (b) they fail to generalize across testbeds. We quantify both effects on HAI and Morris, and add per-sensor attribution to evaluate detection AND localization.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1. Survey ICS anomaly-detection methods, datasets, and time-aware evaluation metrics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2. Implement six detectors under one AnomalyDetector interface (fit / score / attribute)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3. Implement three metrics with unit tests; reproduce published baselines within tolerance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4. Cross-testbed transfer HAI ↔ Morris (source- vs target-calibrated) + within-HAI leave-one-process-out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5. Per-sensor attribution vs HAI process-level attack labels, with multi-seed sensitivity</a:t>
            </a:r>
          </a:p>
          <a:p>
            <a:pPr>
              <a:spcAft>
                <a:spcPts val="7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6. Findings, practical recommendations, and a reproducible apparatus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two testbeds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Deliberately dissimilar — that is the point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492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HAI 21.03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Morris (gas pipeline)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Power-plant (boiler, turbine, water)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Gas-pipeline Modbus RTU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79 sensor channels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16 features (leak cols removed)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Processes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4 interconnected (P1–P4)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Single pipeline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1 Hz, timestamped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Sub-second, no timestamps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Folder of CSVs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ARFF 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22A33"/>
                          </a:solidFill>
                          <a:latin typeface="Calibri"/>
                        </a:rPr>
                        <a:t>Shared sensors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— none in common —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222A33"/>
                          </a:solidFill>
                          <a:latin typeface="Calibri"/>
                        </a:rPr>
                        <a:t>— none in common —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hai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462" y="2084832"/>
            <a:ext cx="5135233" cy="2045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B6670"/>
                </a:solidFill>
                <a:latin typeface="Calibri"/>
              </a:rPr>
              <a:t>HAI process overview — 79 channels across four physical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Six detectors, one interface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Two classical · two autoencoders · two transformer-era SOTA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2008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Random splits isolate outliers faster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One-Class SVM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Boundary around the normal region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Dense Autoencoder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Autoencoder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High reconstruction error = anomaly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LSTM Autoencoder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Autoencoder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Sequence reconstruction over time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USAD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SOTA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Adversarially-trained autoencoder pair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A33"/>
                          </a:solidFill>
                          <a:latin typeface="Calibri"/>
                        </a:rPr>
                        <a:t>TranAD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SOTA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Transformer with attention + adversarial loss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Three time-aware metrics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How you score a detector changes who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6400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35661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Point-wise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Standard per-timestep precision/recall/F1.</a:t>
            </a:r>
          </a:p>
          <a:p>
            <a:pPr>
              <a:spcBef>
                <a:spcPts val="1200"/>
              </a:spcBef>
            </a:pPr>
            <a:r>
              <a:rPr sz="1300" b="1" i="1">
                <a:solidFill>
                  <a:srgbClr val="0F2A4A"/>
                </a:solidFill>
                <a:latin typeface="Calibri"/>
              </a:rPr>
              <a:t>Honest but unforgiving on short events.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5661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05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566160" cy="640080"/>
          </a:xfrm>
          <a:prstGeom prst="rect">
            <a:avLst/>
          </a:prstGeom>
          <a:solidFill>
            <a:srgbClr val="B0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81328"/>
            <a:ext cx="35661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Point-adjust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If the model flags ANY point in an attack, the whole attack counts as detected.</a:t>
            </a:r>
          </a:p>
          <a:p>
            <a:pPr>
              <a:spcBef>
                <a:spcPts val="1200"/>
              </a:spcBef>
            </a:pPr>
            <a:r>
              <a:rPr sz="1300" b="1" i="1">
                <a:solidFill>
                  <a:srgbClr val="B0552B"/>
                </a:solidFill>
                <a:latin typeface="Calibri"/>
              </a:rPr>
              <a:t>Inflated — a random flagger beats real detectors (Kim et al., AAAI 2022).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566160" cy="6400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5661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eTaPR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Event-aware: rewards how much of each attack you catch and how fast.</a:t>
            </a:r>
          </a:p>
          <a:p>
            <a:pPr>
              <a:spcBef>
                <a:spcPts val="1200"/>
              </a:spcBef>
            </a:pPr>
            <a:r>
              <a:rPr sz="1300" b="1" i="1">
                <a:solidFill>
                  <a:srgbClr val="129A8E"/>
                </a:solidFill>
                <a:latin typeface="Calibri"/>
              </a:rPr>
              <a:t>The honest metric we trust for ranking.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Config-driven, reproducible, no hidden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1755648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Raw data
(HAI / Morris)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554480"/>
            <a:ext cx="1755648" cy="9144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data_loader
→ unified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54480"/>
            <a:ext cx="1755648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preprocessing
scale +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554480"/>
            <a:ext cx="1755648" cy="9144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Model
fit · score · 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554480"/>
            <a:ext cx="1755648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evaluation
3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5B667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554480"/>
            <a:ext cx="1755648" cy="9144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summary.parquet
+ figures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One AnomalyDetector base class — fit / score / attribute / save / load — every model obeys it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Every experiment is a YAML config; the runner is model-agnostic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Each run records a 12-char config hash + seed + timestamp → one row in summary.parquet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Notebooks only plot. If a number is in the thesis, a tested function in src/ produced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Bridging two testbeds: the type vector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If they share no sensors, compare sensor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2194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HAI
79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691640"/>
            <a:ext cx="2834640" cy="246888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Shared 6-dim type space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pressure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pump_state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setpoint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valve_position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control_signal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system_state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0"/>
            <a:ext cx="2743200" cy="2194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Morris
16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7432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9A8E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7432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9A8E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80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Each sensor hand-tagged by TYPE in data/feature_types.yaml (pressure, valve, control signal…)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Both datasets projected onto the shared 6-dim type vector → models become transferable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Transfer the scoring function, not the raw weights — methodologically the cleanest 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Software &amp; reproducibility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Tooling and the build-everything-from-config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Languages &amp; ML</a:t>
            </a:r>
          </a:p>
          <a:p>
            <a:pPr lvl="1">
              <a:spcAft>
                <a:spcPts val="6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Python 3.11 · PyTorch 2.3 (deep models) · scikit-learn 1.4 (classical) · NumPy / pandas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Explainability &amp; app</a:t>
            </a:r>
          </a:p>
          <a:p>
            <a:pPr lvl="1">
              <a:spcAft>
                <a:spcPts val="6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SHAP (classical attribution) · FastAPI + vanilla JS demo web app · joblib artifacts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Quality &amp; docs</a:t>
            </a:r>
          </a:p>
          <a:p>
            <a:pPr lvl="1">
              <a:spcAft>
                <a:spcPts val="6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pytest 8.0 (13 test modules) · ruff · pre-commit · LaTeX (thesis + this deck's figures)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Reproducibility contract</a:t>
            </a:r>
          </a:p>
          <a:p>
            <a:pPr lvl="1">
              <a:spcAft>
                <a:spcPts val="6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python -m experiments.run &lt;config.yaml&gt;  →  one row in results/metrics/summary.parquet</a:t>
            </a:r>
          </a:p>
          <a:p>
            <a:pPr lvl="1">
              <a:spcAft>
                <a:spcPts val="6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~48 YAML configs · 12-char config hash · seeds 7 / 42 / 123 · Parquet for nested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Implementation — key points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The interface contract and the anti-leakage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2A4A"/>
                </a:solidFill>
                <a:latin typeface="Calibri"/>
              </a:rPr>
              <a:t>src/models/base.py — every model obeys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3291840"/>
          </a:xfrm>
          <a:prstGeom prst="rect">
            <a:avLst/>
          </a:prstGeom>
          <a:solidFill>
            <a:srgbClr val="F2F5F8"/>
          </a:solidFill>
          <a:ln w="9525">
            <a:solidFill>
              <a:srgbClr val="CF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class AnomalyDetector(ABC):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@abstractmethod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def fit(self, X_train, X_val=None):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    # Fit on normal-only data.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    # Must never see attack rows.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    ...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@abstractmethod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def score(self, X):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    # per-sample anomaly score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    ...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def attribute(self, X):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    # per-feature contribution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2A4A"/>
                </a:solidFill>
                <a:latin typeface="Calibri"/>
              </a:rPr>
              <a:t>src/preprocessing.py — scaler-leak guard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0200"/>
            <a:ext cx="5486400" cy="2103120"/>
          </a:xfrm>
          <a:prstGeom prst="rect">
            <a:avLst/>
          </a:prstGeom>
          <a:solidFill>
            <a:srgbClr val="F2F5F8"/>
          </a:solidFill>
          <a:ln w="9525">
            <a:solidFill>
              <a:srgbClr val="CF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def scale_bundle(bundle):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# #1 cause of inflated ICS results: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# fitting the scaler on attack rows.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29A8E"/>
                </a:solidFill>
                <a:latin typeface="Consolas"/>
              </a:rPr>
              <a:t>    # Crash rather than trust callers.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bundle.assert_no_attack_in_train_val()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scaler = MinMaxScaler(clip=True)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scaler.fit(X_train)   # normal only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A33"/>
                </a:solidFill>
                <a:latin typeface="Consolas"/>
              </a:rPr>
              <a:t>    return ScaledArrays(...)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886200"/>
            <a:ext cx="5486400" cy="1417320"/>
          </a:xfrm>
          <a:prstGeom prst="rect">
            <a:avLst/>
          </a:prstGeom>
          <a:solidFill>
            <a:srgbClr val="F2F5F8"/>
          </a:solidFill>
          <a:ln w="15875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tlCol="0" anchor="ctr"/>
          <a:lstStyle/>
          <a:p>
            <a:pPr algn="ctr"/>
            <a:r>
              <a:rPr sz="1400" b="1" i="0">
                <a:solidFill>
                  <a:srgbClr val="129A8E"/>
                </a:solidFill>
                <a:latin typeface="Calibri"/>
              </a:rPr>
              <a:t>Demo web app  </a:t>
            </a:r>
            <a:r>
              <a:rPr sz="1300" b="0" i="1">
                <a:solidFill>
                  <a:srgbClr val="5B6670"/>
                </a:solidFill>
                <a:latin typeface="Calibri"/>
              </a:rPr>
              <a:t>(FastAPI + vanilla JS)</a:t>
            </a:r>
          </a:p>
          <a:p>
            <a:r>
              <a:rPr sz="1300" b="0" i="0">
                <a:solidFill>
                  <a:srgbClr val="222A33"/>
                </a:solidFill>
                <a:latin typeface="Calibri"/>
              </a:rPr>
              <a:t>Upload a CSV → pick a trained artifact → see per-row anomaly scores. The CLI and the app are thin wrappers around one function: score_dataframe(artifact, df).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same-dataset detection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Point-wise F1 / ROC-AUC, scaler fit on normal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57607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HAI F1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HAI AUC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Morris F1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Morris AUC</a:t>
                      </a:r>
                    </a:p>
                  </a:txBody>
                  <a:tcPr marL="88900" marR="88900" marT="38100" marB="38100"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A33"/>
                          </a:solidFill>
                          <a:latin typeface="Calibri"/>
                        </a:rPr>
                        <a:t>Dense AE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0.524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A33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0.770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0.734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0.658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A33"/>
                          </a:solidFill>
                          <a:latin typeface="Calibri"/>
                        </a:rPr>
                        <a:t>One-Class SVM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0.307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0.653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0.629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22A33"/>
                          </a:solidFill>
                          <a:latin typeface="Calibri"/>
                        </a:rPr>
                        <a:t>LSTM AE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0.9997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805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A33"/>
                </a:solidFill>
                <a:latin typeface="Calibri"/>
              </a:rPr>
              <a:t>Dense AE leads on HAI; absolute F1 is modest (0.52) even at home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A33"/>
                </a:solidFill>
                <a:latin typeface="Calibri"/>
              </a:rPr>
              <a:t>High Morris F1 partly reflects its ~91% windowed attack rate — a warning sign</a:t>
            </a:r>
          </a:p>
        </p:txBody>
      </p:sp>
      <p:pic>
        <p:nvPicPr>
          <p:cNvPr id="8" name="Picture 7" descr="sota_six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5486400" cy="1854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B6670"/>
                </a:solidFill>
                <a:latin typeface="Calibri"/>
              </a:rPr>
              <a:t>Six-model comparison across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metric sensitivity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The same models, re-ranked by the metric</a:t>
            </a:r>
          </a:p>
        </p:txBody>
      </p:sp>
      <p:pic>
        <p:nvPicPr>
          <p:cNvPr id="5" name="Picture 4" descr="metric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498079" cy="2657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3"/>
                </a:solidFill>
                <a:latin typeface="Calibri"/>
              </a:rPr>
              <a:t>Rankings shuffle</a:t>
            </a:r>
          </a:p>
          <a:p>
            <a:pPr lvl="1">
              <a:spcAft>
                <a:spcPts val="500"/>
              </a:spcAft>
            </a:pPr>
            <a:r>
              <a:rPr sz="15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300" b="0" i="0">
                <a:solidFill>
                  <a:srgbClr val="222A33"/>
                </a:solidFill>
                <a:latin typeface="Calibri"/>
              </a:rPr>
              <a:t>between point-wise, PA-F1, eTaPR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3"/>
                </a:solidFill>
                <a:latin typeface="Calibri"/>
              </a:rPr>
              <a:t>PA-F1 inflates</a:t>
            </a:r>
          </a:p>
          <a:p>
            <a:pPr lvl="1">
              <a:spcAft>
                <a:spcPts val="500"/>
              </a:spcAft>
            </a:pPr>
            <a:r>
              <a:rPr sz="15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300" b="0" i="0">
                <a:solidFill>
                  <a:srgbClr val="222A33"/>
                </a:solidFill>
                <a:latin typeface="Calibri"/>
              </a:rPr>
              <a:t>classical detectors most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22A33"/>
                </a:solidFill>
                <a:latin typeface="Calibri"/>
              </a:rPr>
              <a:t>Takeaway</a:t>
            </a:r>
          </a:p>
          <a:p>
            <a:pPr lvl="1">
              <a:spcAft>
                <a:spcPts val="500"/>
              </a:spcAft>
            </a:pPr>
            <a:r>
              <a:rPr sz="15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300" b="0" i="0">
                <a:solidFill>
                  <a:srgbClr val="222A33"/>
                </a:solidFill>
                <a:latin typeface="Calibri"/>
              </a:rPr>
              <a:t>a single-metric leaderboard is unreliable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B6670"/>
                </a:solidFill>
                <a:latin typeface="Calibri"/>
              </a:rPr>
              <a:t>Metric choice reorders the 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cross-testbed transfer  (headline)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Calibration, not the model, decides whether transfer means anything</a:t>
            </a:r>
          </a:p>
        </p:txBody>
      </p:sp>
      <p:pic>
        <p:nvPicPr>
          <p:cNvPr id="5" name="Picture 4" descr="transfer_calibr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5577840" cy="3840195"/>
          </a:xfrm>
          <a:prstGeom prst="rect">
            <a:avLst/>
          </a:prstGeom>
        </p:spPr>
      </p:pic>
      <p:pic>
        <p:nvPicPr>
          <p:cNvPr id="6" name="Picture 5" descr="lopo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63040"/>
            <a:ext cx="5486400" cy="13079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983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22A33"/>
                </a:solidFill>
                <a:latin typeface="Calibri"/>
              </a:rPr>
              <a:t>Source-calibrated transfer collapses every detector to the target's class-prior baseline (F1≈0.95 on Morris, ≈0.05 on HAI) — the number reflects base rates, not intelligence.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Target-calibrating the threshold on normal target data restores meaning: SOTA reaches 0.38–0.44 eTaPR (HAI→Morris) while classical baselines stay below 0.13.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Within-HAI LOPO (right): hiding a process's sensors causes targeted blindness, not uniform decay.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Results — attribution &amp; localization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"We caught it" ≠ "here's which sensor"</a:t>
            </a:r>
          </a:p>
        </p:txBody>
      </p:sp>
      <p:pic>
        <p:nvPicPr>
          <p:cNvPr id="5" name="Picture 4" descr="attribution_p_a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5486400" cy="1596235"/>
          </a:xfrm>
          <a:prstGeom prst="rect">
            <a:avLst/>
          </a:prstGeom>
        </p:spPr>
      </p:pic>
      <p:pic>
        <p:nvPicPr>
          <p:cNvPr id="6" name="Picture 5" descr="shap_if_ocsvm_p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486400" cy="1640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937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22A33"/>
                </a:solidFill>
                <a:latin typeface="Calibri"/>
              </a:rPr>
              <a:t>Detection-vs-localization inversion: the Dense AE — weakest by F1 — is the only windowed/AE model above random on all three attacked HAI processes.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Attention rollout (TranAD) is numerically identical to reconstruction error — a null result.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SHAP lifts the two classical baselines above random too (right).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Key findings &amp; recommendations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Three findings → three things a security team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29A8E"/>
                </a:solidFill>
                <a:latin typeface="Calibri"/>
              </a:rPr>
              <a:t>Findings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1. Naive cross-factory transfer collapses to coin-flipping (class-prior baseline).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2. Hiding one subsystem's sensors causes targeted blindness, not global decay.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3. The worst detector (Dense AE) is the best localizer; attention explanations are null.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solidFill>
            <a:srgbClr val="F2F5F8"/>
          </a:solidFill>
          <a:ln w="19050">
            <a:solidFill>
              <a:srgbClr val="12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rtlCol="0" anchor="ctr"/>
          <a:lstStyle/>
          <a:p>
            <a:pPr algn="ctr"/>
            <a:r>
              <a:rPr sz="1800" b="1" i="0">
                <a:solidFill>
                  <a:srgbClr val="0F2A4A"/>
                </a:solidFill>
                <a:latin typeface="Calibri"/>
              </a:rPr>
              <a:t>Recommendations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✓  Calibrate the threshold on target-domain normal data before deploying a transferred detector.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✓  Report multiple time-aware metrics (incl. eTaPR); distrust single-metric rankings.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222A33"/>
                </a:solidFill>
                <a:latin typeface="Calibri"/>
              </a:rPr>
              <a:t>✓  Audit attribution alongside detection — consider a SOTA detector + Dense-AE/SHAP localizer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r>
              <a:rPr sz="1300" b="0" i="1">
                <a:solidFill>
                  <a:srgbClr val="BFE4E0"/>
                </a:solidFill>
                <a:latin typeface="Calibri"/>
              </a:rPr>
              <a:t>A measurement project, shipped reproducibly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Benchmarked six detectors on HAI and Morris under three time-aware metrics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Separated representation transfer from threshold transfer — exposing how published F1 misleads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Established a detection-vs-localization tradeoff via per-sensor attribution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29A8E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22A33"/>
                </a:solidFill>
                <a:latin typeface="Calibri"/>
              </a:rPr>
              <a:t>Contributions:</a:t>
            </a:r>
          </a:p>
          <a:p>
            <a:pPr lvl="1">
              <a:spcAft>
                <a:spcPts val="8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A reproducible benchmarking protocol — every number rebuilds from a committed YAML</a:t>
            </a:r>
          </a:p>
          <a:p>
            <a:pPr lvl="1">
              <a:spcAft>
                <a:spcPts val="8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An open-source implementation under one detector interface (7th model = one class)</a:t>
            </a:r>
          </a:p>
          <a:p>
            <a:pPr lvl="1">
              <a:spcAft>
                <a:spcPts val="800"/>
              </a:spcAft>
            </a:pPr>
            <a:r>
              <a:rPr sz="1700" b="1" i="0">
                <a:solidFill>
                  <a:srgbClr val="5B6670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A recommendation to the field: report the full grid — metrics × calibration × attribution — not a single headline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ICS Anomaly Detection for Cyber-Physical Security  ·  IITU 2026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9A8E"/>
                </a:solidFill>
                <a:latin typeface="Calibri"/>
              </a:rPr>
              <a:t>ICS Anomaly Detection for Cyber-Physical Security</a:t>
            </a:r>
          </a:p>
          <a:p>
            <a:pPr algn="ctr">
              <a:spcBef>
                <a:spcPts val="14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Zainiddin Danial · Imankozhayeva Laura · Bekisheva Galiya</a:t>
            </a:r>
          </a:p>
          <a:p>
            <a:pPr algn="ctr"/>
            <a:r>
              <a:rPr sz="1500" b="0" i="0">
                <a:solidFill>
                  <a:srgbClr val="BFE4E0"/>
                </a:solidFill>
                <a:latin typeface="Calibri"/>
              </a:rPr>
              <a:t>Advisor: Nurlybayev T. A.  ·  IITU, Almaty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2464</Words>
  <Application>Microsoft Office PowerPoint</Application>
  <PresentationFormat>Widescreen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Adil Mukhametbek</cp:lastModifiedBy>
  <cp:revision>2</cp:revision>
  <dcterms:created xsi:type="dcterms:W3CDTF">2013-01-27T09:14:16Z</dcterms:created>
  <dcterms:modified xsi:type="dcterms:W3CDTF">2026-06-01T18:48:15Z</dcterms:modified>
  <cp:category/>
</cp:coreProperties>
</file>